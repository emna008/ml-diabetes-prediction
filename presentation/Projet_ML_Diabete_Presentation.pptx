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8CB3D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8CB3D9"/>
                </a:solidFill>
                <a:latin typeface="Arial"/>
              </a:rPr>
              <a:t>F1-Score par modèle (test set)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4D7E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D7E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C9A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D7E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D7EA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Logistic
Regression</c:v>
                  </c:pt>
                  <c:pt idx="1">
                    <c:v>Random
Forest</c:v>
                  </c:pt>
                  <c:pt idx="2">
                    <c:v>SVM</c:v>
                  </c:pt>
                  <c:pt idx="3">
                    <c:v>Gradient
Boosting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0.61</c:v>
                </c:pt>
                <c:pt idx="1">
                  <c:v>0.7</c:v>
                </c:pt>
                <c:pt idx="2">
                  <c:v>0.63</c:v>
                </c:pt>
                <c:pt idx="3">
                  <c:v>0.67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B3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5"/>
        </c:scaling>
        <c:delete val="0"/>
        <c:axPos val="l"/>
        <c:majorGridlines>
          <c:spPr>
            <a:ln w="6350" cap="flat">
              <a:solidFill>
                <a:srgbClr val="1A3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B3D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3295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8CB3D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8CB3D9"/>
                </a:solidFill>
                <a:latin typeface="Arial"/>
              </a:rPr>
              <a:t>Profil multi-métrique (LR vs RF)</a:t>
            </a:r>
          </a:p>
        </c:rich>
      </c:tx>
      <c:layout/>
      <c:overlay val="0"/>
    </c:title>
    <c:autoTitleDeleted val="0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Reg.</c:v>
                </c:pt>
              </c:strCache>
            </c:strRef>
          </c:tx>
          <c:spPr>
            <a:solidFill>
              <a:srgbClr val="4D7EA8"/>
            </a:solidFill>
            <a:ln w="25400" cap="flat">
              <a:solidFill>
                <a:srgbClr val="4D7EA8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4D7EA8"/>
              </a:solidFill>
              <a:ln w="9525" cap="flat">
                <a:solidFill>
                  <a:srgbClr val="4D7E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</c:v>
                  </c:pt>
                  <c:pt idx="4">
                    <c:v>ROC-AUC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0.77</c:v>
                </c:pt>
                <c:pt idx="1">
                  <c:v>0.7</c:v>
                </c:pt>
                <c:pt idx="2">
                  <c:v>0.54</c:v>
                </c:pt>
                <c:pt idx="3">
                  <c:v>0.61</c:v>
                </c:pt>
                <c:pt idx="4">
                  <c:v>0.81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00C9A7"/>
            </a:solidFill>
            <a:ln w="25400" cap="flat">
              <a:solidFill>
                <a:srgbClr val="00C9A7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00C9A7"/>
              </a:solidFill>
              <a:ln w="9525" cap="flat">
                <a:solidFill>
                  <a:srgbClr val="00C9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</c:v>
                  </c:pt>
                  <c:pt idx="4">
                    <c:v>ROC-AUC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0.79</c:v>
                </c:pt>
                <c:pt idx="1">
                  <c:v>0.74</c:v>
                </c:pt>
                <c:pt idx="2">
                  <c:v>0.67</c:v>
                </c:pt>
                <c:pt idx="3">
                  <c:v>0.7</c:v>
                </c:pt>
                <c:pt idx="4">
                  <c:v>0.83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B3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CB3D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3295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8CB3D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8CB3D9"/>
                </a:solidFill>
                <a:latin typeface="Arial"/>
              </a:rPr>
              <a:t>Top 10 — Feature Importances (Random Forest)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DiabetesPedigreeFunc.</c:v>
                  </c:pt>
                  <c:pt idx="1">
                    <c:v>Pregnancies</c:v>
                  </c:pt>
                  <c:pt idx="2">
                    <c:v>AgeGroup</c:v>
                  </c:pt>
                  <c:pt idx="3">
                    <c:v>GlucoseInsulinRatio</c:v>
                  </c:pt>
                  <c:pt idx="4">
                    <c:v>Age</c:v>
                  </c:pt>
                  <c:pt idx="5">
                    <c:v>BloodPressure</c:v>
                  </c:pt>
                  <c:pt idx="6">
                    <c:v>SkinThickness</c:v>
                  </c:pt>
                  <c:pt idx="7">
                    <c:v>Insulin</c:v>
                  </c:pt>
                  <c:pt idx="8">
                    <c:v>BMI</c:v>
                  </c:pt>
                  <c:pt idx="9">
                    <c:v>Glucose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0.048</c:v>
                </c:pt>
                <c:pt idx="1">
                  <c:v>0.052</c:v>
                </c:pt>
                <c:pt idx="2">
                  <c:v>0.058</c:v>
                </c:pt>
                <c:pt idx="3">
                  <c:v>0.062</c:v>
                </c:pt>
                <c:pt idx="4">
                  <c:v>0.088</c:v>
                </c:pt>
                <c:pt idx="5">
                  <c:v>0.092</c:v>
                </c:pt>
                <c:pt idx="6">
                  <c:v>0.098</c:v>
                </c:pt>
                <c:pt idx="7">
                  <c:v>0.105</c:v>
                </c:pt>
                <c:pt idx="8">
                  <c:v>0.162</c:v>
                </c:pt>
                <c:pt idx="9">
                  <c:v>0.182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B3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2"/>
          <c:min val="0"/>
        </c:scaling>
        <c:delete val="0"/>
        <c:axPos val="b"/>
        <c:majorGridlines>
          <c:spPr>
            <a:ln w="6350" cap="flat">
              <a:solidFill>
                <a:srgbClr val="1A3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B3D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3295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371600"/>
            <a:ext cx="3474720" cy="347472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731520"/>
            <a:ext cx="2286000" cy="2286000"/>
          </a:xfrm>
          <a:prstGeom prst="ellipse">
            <a:avLst/>
          </a:prstGeom>
          <a:solidFill>
            <a:srgbClr val="4DD9B8">
              <a:alpha val="15000"/>
            </a:srgbClr>
          </a:solidFill>
          <a:ln w="12700">
            <a:solidFill>
              <a:srgbClr val="4DD9B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MACHINE LEARNING • END-TO-END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8C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du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Diabète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Classification Binaire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4114800" cy="0"/>
          </a:xfrm>
          <a:prstGeom prst="line">
            <a:avLst/>
          </a:prstGeom>
          <a:noFill/>
          <a:ln w="1905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20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Auteure 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Emna</a:t>
            </a:r>
            <a:pPr indent="0" marL="0">
              <a:buNone/>
            </a:pPr>
            <a:r>
              <a:rPr lang="en-US" sz="1100" dirty="0">
                <a:solidFill>
                  <a:srgbClr val="8C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Encadrant 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Abdallah Khemais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: Machine Learning / Deep Learning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Pima Indians Diabetes Database • UCI / Kaggle • 768 patients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863840" y="109728"/>
            <a:ext cx="548640" cy="5486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09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114800" cy="3520440"/>
          </a:xfrm>
          <a:prstGeom prst="roundRect">
            <a:avLst>
              <a:gd name="adj" fmla="val 2597"/>
            </a:avLst>
          </a:prstGeom>
          <a:solidFill>
            <a:srgbClr val="132952"/>
          </a:solidFill>
          <a:ln w="635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143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Médical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9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diabète est une maladie chronique majeure. L'identification précoce des patients à risque permet une prise en charge plus efficace.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9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métier :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E9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Peut-on prédire la présence de diabète (Outcome = 1) à partir de mesures cliniques 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9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9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: </a:t>
            </a:r>
            <a:pPr indent="0" marL="0">
              <a:buNone/>
            </a:pPr>
            <a:r>
              <a:rPr lang="en-US" sz="1100" dirty="0">
                <a:solidFill>
                  <a:srgbClr val="E9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Glycémie, IMC, Âge, Tension, Insuline, Grossesses, Pedigree...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0916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ML End-to-End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4160520" cy="640080"/>
          </a:xfrm>
          <a:prstGeom prst="roundRect">
            <a:avLst>
              <a:gd name="adj" fmla="val 11429"/>
            </a:avLst>
          </a:prstGeom>
          <a:solidFill>
            <a:srgbClr val="132952"/>
          </a:solidFill>
          <a:ln w="6350">
            <a:solidFill>
              <a:srgbClr val="4DD9B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581912"/>
            <a:ext cx="402336" cy="40233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150876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 des données (EDA)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2221992"/>
            <a:ext cx="4160520" cy="640080"/>
          </a:xfrm>
          <a:prstGeom prst="roundRect">
            <a:avLst>
              <a:gd name="adj" fmla="val 11429"/>
            </a:avLst>
          </a:prstGeom>
          <a:solidFill>
            <a:srgbClr val="132952"/>
          </a:solidFill>
          <a:ln w="6350">
            <a:solidFill>
              <a:srgbClr val="4DD9B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340864"/>
            <a:ext cx="402336" cy="40233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340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226771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prétraitement robuste (imputation, scaling)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980944"/>
            <a:ext cx="4160520" cy="640080"/>
          </a:xfrm>
          <a:prstGeom prst="roundRect">
            <a:avLst>
              <a:gd name="adj" fmla="val 11429"/>
            </a:avLst>
          </a:prstGeom>
          <a:solidFill>
            <a:srgbClr val="132952"/>
          </a:solidFill>
          <a:ln w="6350">
            <a:solidFill>
              <a:srgbClr val="4DD9B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099816"/>
            <a:ext cx="402336" cy="40233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099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0" y="302666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&amp; comparaison de 4 modèles ML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739896"/>
            <a:ext cx="4160520" cy="640080"/>
          </a:xfrm>
          <a:prstGeom prst="roundRect">
            <a:avLst>
              <a:gd name="adj" fmla="val 11429"/>
            </a:avLst>
          </a:prstGeom>
          <a:solidFill>
            <a:srgbClr val="132952"/>
          </a:solidFill>
          <a:ln w="6350">
            <a:solidFill>
              <a:srgbClr val="4DD9B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858768"/>
            <a:ext cx="402336" cy="40233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3785616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Évaluation, interprétation &amp; déploiement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4480560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44805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Dataset : Pima Indians Diabetes • 768 lignes • 8 features • Source UCI/Kaggle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 des Données (EDA)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863840" y="109728"/>
            <a:ext cx="548640" cy="5486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09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132952"/>
          </a:solidFill>
          <a:ln w="635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005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9A7"/>
                </a:solidFill>
              </a:rPr>
              <a:t>768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" y="1600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Patients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8928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B3D9"/>
                </a:solidFill>
              </a:rPr>
              <a:t>lignes dans le dataset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68880" y="96012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132952"/>
          </a:solidFill>
          <a:ln w="635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1005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9A7"/>
                </a:solidFill>
              </a:rPr>
              <a:t>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68880" y="1600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Variables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18928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B3D9"/>
                </a:solidFill>
              </a:rPr>
              <a:t>features cliniques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17720" y="96012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132952"/>
          </a:solidFill>
          <a:ln w="635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1005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9A7"/>
                </a:solidFill>
              </a:rPr>
              <a:t>65/35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17720" y="1600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Déséquilibre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18928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B3D9"/>
                </a:solidFill>
              </a:rPr>
              <a:t>classe 0 / classe 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66560" y="96012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132952"/>
          </a:solidFill>
          <a:ln w="635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1005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9A7"/>
                </a:solidFill>
              </a:rPr>
              <a:t>5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766560" y="1600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Valeurs 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18928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B3D9"/>
                </a:solidFill>
              </a:rPr>
              <a:t>colonnes avec zéros impossibles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0040" y="23957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Observations Clés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278892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132952"/>
          </a:solidFill>
          <a:ln w="5080">
            <a:solidFill>
              <a:srgbClr val="4DD9B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788920"/>
            <a:ext cx="109728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284378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42"/>
                </a:solidFill>
              </a:rPr>
              <a:t>Glucose → Cible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" y="311810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9F7F4"/>
                </a:solidFill>
              </a:rPr>
              <a:t>Corrélation la plus forte avec Outcome (~0.47). Variable diagnostique principale.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84048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132952"/>
          </a:solidFill>
          <a:ln w="5080">
            <a:solidFill>
              <a:srgbClr val="4DD9B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840480"/>
            <a:ext cx="109728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" y="389534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42"/>
                </a:solidFill>
              </a:rPr>
              <a:t>IMC &amp; Âge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" y="416966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9F7F4"/>
                </a:solidFill>
              </a:rPr>
              <a:t>Positivement corrélés au diabète. Capture des effets de style de vie.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78892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132952"/>
          </a:solidFill>
          <a:ln w="5080">
            <a:solidFill>
              <a:srgbClr val="4DD9B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2788920"/>
            <a:ext cx="109728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284378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42"/>
                </a:solidFill>
              </a:rPr>
              <a:t>Multicolinéarité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64608" y="311810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9F7F4"/>
                </a:solidFill>
              </a:rPr>
              <a:t>Insulin &amp; SkinThickness corrélés entre eux — nécessite attention lors de la modélisation.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384048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132952"/>
          </a:solidFill>
          <a:ln w="5080">
            <a:solidFill>
              <a:srgbClr val="4DD9B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3840480"/>
            <a:ext cx="109728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389534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42"/>
                </a:solidFill>
              </a:rPr>
              <a:t>Zéros impossibles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64608" y="416966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9F7F4"/>
                </a:solidFill>
              </a:rPr>
              <a:t>Glucose, Tension, Insuline, IMC = 0 sont physiologiquement impossibles → remplacés par NaN.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Prétraitement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863840" y="109728"/>
            <a:ext cx="548640" cy="5486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09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132952"/>
          </a:solidFill>
          <a:ln w="635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78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Nouvelles Features Créées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3794760" cy="868680"/>
          </a:xfrm>
          <a:prstGeom prst="roundRect">
            <a:avLst>
              <a:gd name="adj" fmla="val 7368"/>
            </a:avLst>
          </a:prstGeom>
          <a:solidFill>
            <a:srgbClr val="0A1628">
              <a:alpha val="60000"/>
            </a:srgbClr>
          </a:solidFill>
          <a:ln w="3810">
            <a:solidFill>
              <a:srgbClr val="4DD9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544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542"/>
                </a:solidFill>
              </a:rPr>
              <a:t>GlucoseInsulinRatio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1810512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F7F4"/>
                </a:solidFill>
              </a:rPr>
              <a:t>Rapport glycémie/insuline. Indicateur de résistance à l'insuline — une anomalie métabolique clé du diabète de type 2.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794760" cy="868680"/>
          </a:xfrm>
          <a:prstGeom prst="roundRect">
            <a:avLst>
              <a:gd name="adj" fmla="val 7368"/>
            </a:avLst>
          </a:prstGeom>
          <a:solidFill>
            <a:srgbClr val="0A1628">
              <a:alpha val="60000"/>
            </a:srgbClr>
          </a:solidFill>
          <a:ln w="3810">
            <a:solidFill>
              <a:srgbClr val="4DD9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56032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542"/>
                </a:solidFill>
              </a:rPr>
              <a:t>AgeGroup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2816352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F7F4"/>
                </a:solidFill>
              </a:rPr>
              <a:t>Tranches d'âge cliniques : 20-30, 30-40, 40-50, 50-60, 60+. Capture les effets non linéaires de l'âge.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3794760" cy="868680"/>
          </a:xfrm>
          <a:prstGeom prst="roundRect">
            <a:avLst>
              <a:gd name="adj" fmla="val 7368"/>
            </a:avLst>
          </a:prstGeom>
          <a:solidFill>
            <a:srgbClr val="0A1628">
              <a:alpha val="60000"/>
            </a:srgbClr>
          </a:solidFill>
          <a:ln w="3810">
            <a:solidFill>
              <a:srgbClr val="4DD9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5661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542"/>
                </a:solidFill>
              </a:rPr>
              <a:t>BMICategory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3822192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F7F4"/>
                </a:solidFill>
              </a:rPr>
              <a:t>Catégories OMS : Underweight / Normal / Overweight / Obese. Plus interprétables que la valeur brute d'IMC.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96012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132952"/>
          </a:solidFill>
          <a:ln w="635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1078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Pipeline sklearn (4 étapes)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28032" y="1508760"/>
            <a:ext cx="411480" cy="4114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33772" y="1920240"/>
            <a:ext cx="0" cy="384048"/>
          </a:xfrm>
          <a:prstGeom prst="line">
            <a:avLst/>
          </a:prstGeom>
          <a:noFill/>
          <a:ln w="12700">
            <a:solidFill>
              <a:srgbClr val="8CB3D9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349240" y="14904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Imputation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9240" y="174650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B3D9"/>
                </a:solidFill>
              </a:rPr>
              <a:t>Médiane (num) / Mode (catég.) calculée sur train uniquement → évite data leakage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28032" y="2286000"/>
            <a:ext cx="411480" cy="4114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33772" y="2697480"/>
            <a:ext cx="0" cy="384048"/>
          </a:xfrm>
          <a:prstGeom prst="line">
            <a:avLst/>
          </a:prstGeom>
          <a:noFill/>
          <a:ln w="12700">
            <a:solidFill>
              <a:srgbClr val="8CB3D9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5349240" y="22677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StandardScaler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49240" y="252374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B3D9"/>
                </a:solidFill>
              </a:rPr>
              <a:t>Centre (µ=0) &amp; réduit (σ=1) les features → équité pour LR &amp; SVM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28032" y="3063240"/>
            <a:ext cx="411480" cy="4114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33772" y="3474720"/>
            <a:ext cx="0" cy="384048"/>
          </a:xfrm>
          <a:prstGeom prst="line">
            <a:avLst/>
          </a:prstGeom>
          <a:noFill/>
          <a:ln w="12700">
            <a:solidFill>
              <a:srgbClr val="8CB3D9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5349240" y="30449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OneHotEncoder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49240" y="330098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B3D9"/>
                </a:solidFill>
              </a:rPr>
              <a:t>Encode AgeGroup &amp; BMICategory → variables dummy sans ordre artificiel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28032" y="3840480"/>
            <a:ext cx="411480" cy="4114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49240" y="38221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Split stratifié 80/20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49240" y="4078224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B3D9"/>
                </a:solidFill>
              </a:rPr>
              <a:t>Stratify=y → préserve la proportion 65/35 dans train &amp; test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&amp; Comparaison des Algorithmes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863840" y="109728"/>
            <a:ext cx="548640" cy="5486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09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132952"/>
          </a:solidFill>
          <a:ln w="6350">
            <a:solidFill>
              <a:srgbClr val="8CB3D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15568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8CB3D9">
              <a:alpha val="80000"/>
            </a:srgbClr>
          </a:solidFill>
          <a:ln w="12700">
            <a:solidFill>
              <a:srgbClr val="8CB3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155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Baseline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CB3D9"/>
                </a:solidFill>
              </a:rPr>
              <a:t>Régression Logistique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1755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B3D9"/>
                </a:solidFill>
              </a:rPr>
              <a:t>Modèle linéaire probabiliste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03911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F7F4"/>
                </a:solidFill>
              </a:rPr>
              <a:t>→ Interprétable, rapide, coefficient lisibles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0E2B3C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92040" y="1115568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1155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Retenu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89204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9A7"/>
                </a:solidFill>
              </a:rPr>
              <a:t>Random Forest ★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92040" y="1755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B3D9"/>
                </a:solidFill>
              </a:rPr>
              <a:t>Bagging d'arbres de décision (n=200)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03911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F7F4"/>
                </a:solidFill>
              </a:rPr>
              <a:t>→ Non-linéaire, feature importances, robuste overfitting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88036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132952"/>
          </a:solidFill>
          <a:ln w="6350">
            <a:solidFill>
              <a:srgbClr val="F087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990088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0874A">
              <a:alpha val="80000"/>
            </a:srgbClr>
          </a:solidFill>
          <a:ln w="12700">
            <a:solidFill>
              <a:srgbClr val="F087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9008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Avancé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57200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874A"/>
                </a:solidFill>
              </a:rPr>
              <a:t>SVM (noyau RBF)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36301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B3D9"/>
                </a:solidFill>
              </a:rPr>
              <a:t>Maximise la marge entre classes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91363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F7F4"/>
                </a:solidFill>
              </a:rPr>
              <a:t>→ Frontières non linéaires, efficace petits datasets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880360"/>
            <a:ext cx="4160520" cy="1691640"/>
          </a:xfrm>
          <a:prstGeom prst="roundRect">
            <a:avLst>
              <a:gd name="adj" fmla="val 5405"/>
            </a:avLst>
          </a:prstGeom>
          <a:solidFill>
            <a:srgbClr val="132952"/>
          </a:solidFill>
          <a:ln w="6350">
            <a:solidFill>
              <a:srgbClr val="F5C542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2990088"/>
            <a:ext cx="868680" cy="256032"/>
          </a:xfrm>
          <a:prstGeom prst="roundRect">
            <a:avLst>
              <a:gd name="adj" fmla="val 17857"/>
            </a:avLst>
          </a:prstGeom>
          <a:solidFill>
            <a:srgbClr val="F5C542">
              <a:alpha val="80000"/>
            </a:srgbClr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99008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Ensemble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92040" y="3291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C542"/>
                </a:solidFill>
              </a:rPr>
              <a:t>Gradient Boosting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892040" y="36301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B3D9"/>
                </a:solidFill>
              </a:rPr>
              <a:t>Arbres séquentiels corrigeant erreurs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91363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9F7F4"/>
                </a:solidFill>
              </a:rPr>
              <a:t>→ Haute performance, régularisation intégrée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4645152"/>
            <a:ext cx="8503920" cy="384048"/>
          </a:xfrm>
          <a:prstGeom prst="roundRect">
            <a:avLst>
              <a:gd name="adj" fmla="val 16667"/>
            </a:avLst>
          </a:prstGeom>
          <a:solidFill>
            <a:srgbClr val="00C9A7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Validation croisée : StratifiedKFold (k=5) • GridSearchCV pour Random Forest (n_estimators, max_depth, min_samples_split)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&amp; Comparaison des Performances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863840" y="109728"/>
            <a:ext cx="548640" cy="5486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09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96012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572000" y="960120"/>
          <a:ext cx="4251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320040" y="3858768"/>
            <a:ext cx="8503920" cy="1097280"/>
          </a:xfrm>
          <a:prstGeom prst="roundRect">
            <a:avLst>
              <a:gd name="adj" fmla="val 8333"/>
            </a:avLst>
          </a:prstGeom>
          <a:solidFill>
            <a:srgbClr val="0E2B3C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🏆  Random Forest — Modèle Retenu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02920" y="426110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42"/>
                </a:solidFill>
              </a:rPr>
              <a:t>79 %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02920" y="460857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B3D9"/>
                </a:solidFill>
              </a:rPr>
              <a:t>Accuracy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1892808" y="426110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42"/>
                </a:solidFill>
              </a:rPr>
              <a:t>74 %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892808" y="460857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B3D9"/>
                </a:solidFill>
              </a:rPr>
              <a:t>Precision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282696" y="426110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42"/>
                </a:solidFill>
              </a:rPr>
              <a:t>67 %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282696" y="460857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B3D9"/>
                </a:solidFill>
              </a:rPr>
              <a:t>Recall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672584" y="426110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42"/>
                </a:solidFill>
              </a:rPr>
              <a:t>0.70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672584" y="460857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B3D9"/>
                </a:solidFill>
              </a:rPr>
              <a:t>F1-Score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062472" y="426110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42"/>
                </a:solidFill>
              </a:rPr>
              <a:t>0.83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062472" y="460857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B3D9"/>
                </a:solidFill>
              </a:rPr>
              <a:t>ROC-AUC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7452360" y="426110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42"/>
                </a:solidFill>
              </a:rPr>
              <a:t>0.65 ± 0.03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452360" y="460857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B3D9"/>
                </a:solidFill>
              </a:rPr>
              <a:t>CV F1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Interprétabilité — Importance des Features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863840" y="109728"/>
            <a:ext cx="548640" cy="5486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09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96012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852160" y="960120"/>
            <a:ext cx="2971800" cy="3931920"/>
          </a:xfrm>
          <a:prstGeom prst="roundRect">
            <a:avLst>
              <a:gd name="adj" fmla="val 3077"/>
            </a:avLst>
          </a:prstGeom>
          <a:solidFill>
            <a:srgbClr val="132952"/>
          </a:solidFill>
          <a:ln w="635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0" y="10789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Insights Clés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0" y="1508760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1508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309360" y="1508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C542"/>
                </a:solidFill>
              </a:rPr>
              <a:t>Glucose (18.2%)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309360" y="17647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B3D9"/>
                </a:solidFill>
              </a:rPr>
              <a:t>Variable #1 : glycémie à jeun — aligné avec critères diagnostiques médicaux.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943600" y="2148840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309360" y="2148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C542"/>
                </a:solidFill>
              </a:rPr>
              <a:t>BMI (16.2%)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309360" y="24048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B3D9"/>
                </a:solidFill>
              </a:rPr>
              <a:t>L'obésité est un facteur de risque majeur du diabète de type 2.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943600" y="2788920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0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309360" y="2788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C542"/>
                </a:solidFill>
              </a:rPr>
              <a:t>Insulin (10.5%)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309360" y="30449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B3D9"/>
                </a:solidFill>
              </a:rPr>
              <a:t>Résistance à l'insuline → hyperglycémie. Nombreux NaN → imputation critique.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943600" y="3429000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0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4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309360" y="3429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C542"/>
                </a:solidFill>
              </a:rPr>
              <a:t>SkinThickness (9.8%)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309360" y="36850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B3D9"/>
                </a:solidFill>
              </a:rPr>
              <a:t>Proxy de la graisse corporelle, corrélé avec l'IMC.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943600" y="4069080"/>
            <a:ext cx="292608" cy="29260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0" y="4069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5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309360" y="4069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C542"/>
                </a:solidFill>
              </a:rPr>
              <a:t>Age + BloodPressure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309360" y="43251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CB3D9"/>
                </a:solidFill>
              </a:rPr>
              <a:t>Variables de risque cumulatif : âge et comorbidités cardiovasculaires.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863840" y="109728"/>
            <a:ext cx="548640" cy="548640"/>
          </a:xfrm>
          <a:prstGeom prst="ellipse">
            <a:avLst/>
          </a:prstGeom>
          <a:solidFill>
            <a:srgbClr val="00C9A7">
              <a:alpha val="4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09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114800" cy="2240280"/>
          </a:xfrm>
          <a:prstGeom prst="roundRect">
            <a:avLst>
              <a:gd name="adj" fmla="val 4082"/>
            </a:avLst>
          </a:prstGeom>
          <a:solidFill>
            <a:srgbClr val="132952"/>
          </a:solidFill>
          <a:ln w="6350">
            <a:solidFill>
              <a:srgbClr val="00C9A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78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Synthèse des Résultats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3794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9F7F4"/>
                </a:solidFill>
              </a:rPr>
              <a:t>✓  EDA approfondie — déséquilibre ~65/35, zéros impossibles traités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9F7F4"/>
                </a:solidFill>
              </a:rPr>
              <a:t>✓  Pipeline robuste sklearn sans fuite de données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9F7F4"/>
                </a:solidFill>
              </a:rPr>
              <a:t>✓  4 modèles comparés — Random Forest retenu (F1 ≈ 0.70, AUC ≈ 0.83)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9F7F4"/>
                </a:solidFill>
              </a:rPr>
              <a:t>✓  Validation croisée stable : CV F1 ≈ 0.65 ± 0.03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14800" cy="2240280"/>
          </a:xfrm>
          <a:prstGeom prst="roundRect">
            <a:avLst>
              <a:gd name="adj" fmla="val 4082"/>
            </a:avLst>
          </a:prstGeom>
          <a:solidFill>
            <a:srgbClr val="132952"/>
          </a:solidFill>
          <a:ln w="6350">
            <a:solidFill>
              <a:srgbClr val="F0874A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078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874A"/>
                </a:solidFill>
              </a:rPr>
              <a:t>Limites Identifiées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463040"/>
            <a:ext cx="3794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9F7F4"/>
                </a:solidFill>
              </a:rPr>
              <a:t>⚠  Dataset modeste : 768 lignes → variance sur le test set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9F7F4"/>
                </a:solidFill>
              </a:rPr>
              <a:t>⚠  Population spécifique (Pima Indians, femmes) → généralisation limitée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9F7F4"/>
                </a:solidFill>
              </a:rPr>
              <a:t>⚠  Déséquilibre des classes : accuracy seule trompeuse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9F7F4"/>
                </a:solidFill>
              </a:rPr>
              <a:t>⚠  Données manquantes nombreuses pour Insulin &amp; SkinThickness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33375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</a:rPr>
              <a:t>Pistes d'Amélioration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749040"/>
            <a:ext cx="4160520" cy="530352"/>
          </a:xfrm>
          <a:prstGeom prst="roundRect">
            <a:avLst>
              <a:gd name="adj" fmla="val 12069"/>
            </a:avLst>
          </a:prstGeom>
          <a:solidFill>
            <a:srgbClr val="132952"/>
          </a:solidFill>
          <a:ln w="5080">
            <a:solidFill>
              <a:srgbClr val="4DD9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822192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82219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SMOTE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88720" y="3785616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F7F4"/>
                </a:solidFill>
              </a:rPr>
              <a:t>SMOTE / class_weight pour rééquilibrer les classes sans biais de sur-échantillonnage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3749040"/>
            <a:ext cx="4160520" cy="530352"/>
          </a:xfrm>
          <a:prstGeom prst="roundRect">
            <a:avLst>
              <a:gd name="adj" fmla="val 12069"/>
            </a:avLst>
          </a:prstGeom>
          <a:solidFill>
            <a:srgbClr val="132952"/>
          </a:solidFill>
          <a:ln w="5080">
            <a:solidFill>
              <a:srgbClr val="4DD9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3822192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822192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SHAP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23560" y="3785616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F7F4"/>
                </a:solidFill>
              </a:rPr>
              <a:t>SHAP values pour l'interprétabilité locale par patient (explicabilité médicale)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4370832"/>
            <a:ext cx="4160520" cy="530352"/>
          </a:xfrm>
          <a:prstGeom prst="roundRect">
            <a:avLst>
              <a:gd name="adj" fmla="val 12069"/>
            </a:avLst>
          </a:prstGeom>
          <a:solidFill>
            <a:srgbClr val="132952"/>
          </a:solidFill>
          <a:ln w="5080">
            <a:solidFill>
              <a:srgbClr val="4DD9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4443984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44398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Streamlit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88720" y="4407408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F7F4"/>
                </a:solidFill>
              </a:rPr>
              <a:t>Déploiement Streamlit : interface de prédiction interactive pour cliniciens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4370832"/>
            <a:ext cx="4160520" cy="530352"/>
          </a:xfrm>
          <a:prstGeom prst="roundRect">
            <a:avLst>
              <a:gd name="adj" fmla="val 12069"/>
            </a:avLst>
          </a:prstGeom>
          <a:solidFill>
            <a:srgbClr val="132952"/>
          </a:solidFill>
          <a:ln w="5080">
            <a:solidFill>
              <a:srgbClr val="4DD9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4443984"/>
            <a:ext cx="685800" cy="365760"/>
          </a:xfrm>
          <a:prstGeom prst="roundRect">
            <a:avLst>
              <a:gd name="adj" fmla="val 12500"/>
            </a:avLst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4443984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Open Data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23560" y="4407408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9F7F4"/>
                </a:solidFill>
              </a:rPr>
              <a:t>Collecte de données locales (Open Data Tunisie) pour un modèle contextuel régional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Prédiction du Diabète — Machine Learning End-to-End</dc:title>
  <dc:subject>PptxGenJS Presentation</dc:subject>
  <dc:creator>Emna</dc:creator>
  <cp:lastModifiedBy>Emna</cp:lastModifiedBy>
  <cp:revision>1</cp:revision>
  <dcterms:created xsi:type="dcterms:W3CDTF">2026-06-19T18:43:08Z</dcterms:created>
  <dcterms:modified xsi:type="dcterms:W3CDTF">2026-06-19T18:43:08Z</dcterms:modified>
</cp:coreProperties>
</file>